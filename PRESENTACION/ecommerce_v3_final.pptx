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garcia" userId="ef74158a614297e1" providerId="LiveId" clId="{D6D5C411-7277-47CD-AA46-EC8EB68F35E8}"/>
    <pc:docChg chg="custSel modSld">
      <pc:chgData name="javier garcia" userId="ef74158a614297e1" providerId="LiveId" clId="{D6D5C411-7277-47CD-AA46-EC8EB68F35E8}" dt="2026-03-23T09:26:42.584" v="36" actId="14100"/>
      <pc:docMkLst>
        <pc:docMk/>
      </pc:docMkLst>
      <pc:sldChg chg="addSp delSp modSp mod">
        <pc:chgData name="javier garcia" userId="ef74158a614297e1" providerId="LiveId" clId="{D6D5C411-7277-47CD-AA46-EC8EB68F35E8}" dt="2026-03-23T09:26:42.584" v="36" actId="14100"/>
        <pc:sldMkLst>
          <pc:docMk/>
          <pc:sldMk cId="0" sldId="257"/>
        </pc:sldMkLst>
        <pc:spChg chg="del">
          <ac:chgData name="javier garcia" userId="ef74158a614297e1" providerId="LiveId" clId="{D6D5C411-7277-47CD-AA46-EC8EB68F35E8}" dt="2026-03-23T09:24:10.767" v="0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22.101" v="4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20.657" v="3" actId="478"/>
          <ac:spMkLst>
            <pc:docMk/>
            <pc:sldMk cId="0" sldId="257"/>
            <ac:spMk id="23" creationId="{00000000-0000-0000-0000-000000000000}"/>
          </ac:spMkLst>
        </pc:spChg>
        <pc:spChg chg="del mod">
          <ac:chgData name="javier garcia" userId="ef74158a614297e1" providerId="LiveId" clId="{D6D5C411-7277-47CD-AA46-EC8EB68F35E8}" dt="2026-03-23T09:24:18.338" v="2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23.749" v="5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28.612" v="8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27.082" v="7" actId="478"/>
          <ac:spMkLst>
            <pc:docMk/>
            <pc:sldMk cId="0" sldId="257"/>
            <ac:spMk id="27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25.469" v="6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31.853" v="9" actId="478"/>
          <ac:spMkLst>
            <pc:docMk/>
            <pc:sldMk cId="0" sldId="257"/>
            <ac:spMk id="29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36.554" v="11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34.112" v="10" actId="478"/>
          <ac:spMkLst>
            <pc:docMk/>
            <pc:sldMk cId="0" sldId="257"/>
            <ac:spMk id="31" creationId="{00000000-0000-0000-0000-000000000000}"/>
          </ac:spMkLst>
        </pc:spChg>
        <pc:spChg chg="del mod">
          <ac:chgData name="javier garcia" userId="ef74158a614297e1" providerId="LiveId" clId="{D6D5C411-7277-47CD-AA46-EC8EB68F35E8}" dt="2026-03-23T09:24:39.677" v="13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42.709" v="14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45.156" v="16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44.197" v="15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javier garcia" userId="ef74158a614297e1" providerId="LiveId" clId="{D6D5C411-7277-47CD-AA46-EC8EB68F35E8}" dt="2026-03-23T09:24:48.073" v="17" actId="478"/>
          <ac:spMkLst>
            <pc:docMk/>
            <pc:sldMk cId="0" sldId="257"/>
            <ac:spMk id="36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4:57.500" v="18" actId="107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5:01.693" v="19" actId="107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5:16.293" v="22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5:08.934" v="20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5:21.903" v="23" actId="107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6:42.584" v="36" actId="1410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6:28.689" v="35" actId="14100"/>
          <ac:spMkLst>
            <pc:docMk/>
            <pc:sldMk cId="0" sldId="257"/>
            <ac:spMk id="43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5:52.663" v="29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javier garcia" userId="ef74158a614297e1" providerId="LiveId" clId="{D6D5C411-7277-47CD-AA46-EC8EB68F35E8}" dt="2026-03-23T09:25:57.509" v="30" actId="1076"/>
          <ac:spMkLst>
            <pc:docMk/>
            <pc:sldMk cId="0" sldId="257"/>
            <ac:spMk id="45" creationId="{00000000-0000-0000-0000-000000000000}"/>
          </ac:spMkLst>
        </pc:spChg>
        <pc:spChg chg="add del mod">
          <ac:chgData name="javier garcia" userId="ef74158a614297e1" providerId="LiveId" clId="{D6D5C411-7277-47CD-AA46-EC8EB68F35E8}" dt="2026-03-23T09:25:48.516" v="28" actId="478"/>
          <ac:spMkLst>
            <pc:docMk/>
            <pc:sldMk cId="0" sldId="257"/>
            <ac:spMk id="58" creationId="{3CC05E6D-C450-6765-4554-2C8F7592115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spPr>
            <a:solidFill>
              <a:srgbClr val="B73A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BE-4FEE-A3C4-4279D456F916}"/>
              </c:ext>
            </c:extLst>
          </c:dPt>
          <c:dPt>
            <c:idx val="1"/>
            <c:invertIfNegative val="0"/>
            <c:bubble3D val="0"/>
            <c:spPr>
              <a:solidFill>
                <a:srgbClr val="EC56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BE-4FEE-A3C4-4279D456F916}"/>
              </c:ext>
            </c:extLst>
          </c:dPt>
          <c:dPt>
            <c:idx val="2"/>
            <c:invertIfNegative val="0"/>
            <c:bubble3D val="0"/>
            <c:spPr>
              <a:solidFill>
                <a:srgbClr val="FAD0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BE-4FEE-A3C4-4279D456F916}"/>
              </c:ext>
            </c:extLst>
          </c:dPt>
          <c:dPt>
            <c:idx val="3"/>
            <c:invertIfNegative val="0"/>
            <c:bubble3D val="0"/>
            <c:spPr>
              <a:solidFill>
                <a:srgbClr val="F5A1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BE-4FEE-A3C4-4279D456F91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52423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PayPal</c:v>
                </c:pt>
                <c:pt idx="2">
                  <c:v>Cash on Delivery</c:v>
                </c:pt>
                <c:pt idx="3">
                  <c:v>Bank Transfer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797</c:v>
                </c:pt>
                <c:pt idx="1">
                  <c:v>609</c:v>
                </c:pt>
                <c:pt idx="2">
                  <c:v>301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BE-4FEE-A3C4-4279D456F9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TOTALES</c:v>
                </c:pt>
              </c:strCache>
            </c:strRef>
          </c:tx>
          <c:spPr>
            <a:ln w="25400" cap="flat">
              <a:solidFill>
                <a:srgbClr val="B73A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73A3A"/>
              </a:solidFill>
              <a:ln w="9525" cap="flat">
                <a:solidFill>
                  <a:srgbClr val="B73A3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68000</c:v>
                </c:pt>
                <c:pt idx="1">
                  <c:v>72000</c:v>
                </c:pt>
                <c:pt idx="2">
                  <c:v>65000</c:v>
                </c:pt>
                <c:pt idx="3">
                  <c:v>80000</c:v>
                </c:pt>
                <c:pt idx="4">
                  <c:v>75000</c:v>
                </c:pt>
                <c:pt idx="5">
                  <c:v>90000</c:v>
                </c:pt>
                <c:pt idx="6">
                  <c:v>85000</c:v>
                </c:pt>
                <c:pt idx="7">
                  <c:v>92000</c:v>
                </c:pt>
                <c:pt idx="8">
                  <c:v>78000</c:v>
                </c:pt>
                <c:pt idx="9">
                  <c:v>95000</c:v>
                </c:pt>
                <c:pt idx="10">
                  <c:v>88000</c:v>
                </c:pt>
                <c:pt idx="11">
                  <c:v>102000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9E0-4CD0-B41C-376ED62618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VENTAS LY</c:v>
                </c:pt>
              </c:strCache>
            </c:strRef>
          </c:tx>
          <c:spPr>
            <a:ln w="25400" cap="flat">
              <a:solidFill>
                <a:srgbClr val="23C26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3C26F"/>
              </a:solidFill>
              <a:ln w="9525" cap="flat">
                <a:solidFill>
                  <a:srgbClr val="23C26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45000</c:v>
                </c:pt>
                <c:pt idx="1">
                  <c:v>48000</c:v>
                </c:pt>
                <c:pt idx="2">
                  <c:v>43000</c:v>
                </c:pt>
                <c:pt idx="3">
                  <c:v>52000</c:v>
                </c:pt>
                <c:pt idx="4">
                  <c:v>50000</c:v>
                </c:pt>
                <c:pt idx="5">
                  <c:v>58000</c:v>
                </c:pt>
                <c:pt idx="6">
                  <c:v>55000</c:v>
                </c:pt>
                <c:pt idx="7">
                  <c:v>61000</c:v>
                </c:pt>
                <c:pt idx="8">
                  <c:v>52000</c:v>
                </c:pt>
                <c:pt idx="9">
                  <c:v>63000</c:v>
                </c:pt>
                <c:pt idx="10">
                  <c:v>58000</c:v>
                </c:pt>
                <c:pt idx="11">
                  <c:v>68000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9E0-4CD0-B41C-376ED6261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spPr>
            <a:solidFill>
              <a:srgbClr val="B73A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2E-49B3-B6CD-F83715F4DD57}"/>
              </c:ext>
            </c:extLst>
          </c:dPt>
          <c:dPt>
            <c:idx val="1"/>
            <c:invertIfNegative val="0"/>
            <c:bubble3D val="0"/>
            <c:spPr>
              <a:solidFill>
                <a:srgbClr val="EC56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2E-49B3-B6CD-F83715F4DD57}"/>
              </c:ext>
            </c:extLst>
          </c:dPt>
          <c:dPt>
            <c:idx val="2"/>
            <c:invertIfNegative val="0"/>
            <c:bubble3D val="0"/>
            <c:spPr>
              <a:solidFill>
                <a:srgbClr val="FAD0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2E-49B3-B6CD-F83715F4DD57}"/>
              </c:ext>
            </c:extLst>
          </c:dPt>
          <c:dPt>
            <c:idx val="3"/>
            <c:invertIfNegative val="0"/>
            <c:bubble3D val="0"/>
            <c:spPr>
              <a:solidFill>
                <a:srgbClr val="F5A1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2E-49B3-B6CD-F83715F4DD57}"/>
              </c:ext>
            </c:extLst>
          </c:dPt>
          <c:dPt>
            <c:idx val="4"/>
            <c:invertIfNegative val="0"/>
            <c:bubble3D val="0"/>
            <c:spPr>
              <a:solidFill>
                <a:srgbClr val="F8BC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D2E-49B3-B6CD-F83715F4DD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52423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Asia Pacific</c:v>
                </c:pt>
                <c:pt idx="2">
                  <c:v>Europe</c:v>
                </c:pt>
                <c:pt idx="3">
                  <c:v>Mid. East &amp; Africa</c:v>
                </c:pt>
                <c:pt idx="4">
                  <c:v>South America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578</c:v>
                </c:pt>
                <c:pt idx="1">
                  <c:v>520</c:v>
                </c:pt>
                <c:pt idx="2">
                  <c:v>503</c:v>
                </c:pt>
                <c:pt idx="3">
                  <c:v>208</c:v>
                </c:pt>
                <c:pt idx="4">
                  <c:v>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D2E-49B3-B6CD-F83715F4DD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Categoría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7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9B5-40EF-A9A8-A213DE8ACCC4}"/>
              </c:ext>
            </c:extLst>
          </c:dPt>
          <c:dPt>
            <c:idx val="1"/>
            <c:bubble3D val="0"/>
            <c:spPr>
              <a:solidFill>
                <a:srgbClr val="EC56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B5-40EF-A9A8-A213DE8ACCC4}"/>
              </c:ext>
            </c:extLst>
          </c:dPt>
          <c:dPt>
            <c:idx val="2"/>
            <c:bubble3D val="0"/>
            <c:spPr>
              <a:solidFill>
                <a:srgbClr val="FAD0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B5-40EF-A9A8-A213DE8ACCC4}"/>
              </c:ext>
            </c:extLst>
          </c:dPt>
          <c:dPt>
            <c:idx val="3"/>
            <c:bubble3D val="0"/>
            <c:spPr>
              <a:solidFill>
                <a:srgbClr val="F5A1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9B5-40EF-A9A8-A213DE8ACCC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9B5-40EF-A9A8-A213DE8ACCC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9B5-40EF-A9A8-A213DE8ACCC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9B5-40EF-A9A8-A213DE8ACCC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9B5-40EF-A9A8-A213DE8ACCC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  <c:pt idx="3">
                  <c:v>Clothing &amp; Acc.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567</c:v>
                </c:pt>
                <c:pt idx="1">
                  <c:v>513</c:v>
                </c:pt>
                <c:pt idx="2">
                  <c:v>507</c:v>
                </c:pt>
                <c:pt idx="3">
                  <c:v>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9B5-40EF-A9A8-A213DE8AC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B73A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CC-43E1-B956-AD7497EF4591}"/>
              </c:ext>
            </c:extLst>
          </c:dPt>
          <c:dPt>
            <c:idx val="1"/>
            <c:invertIfNegative val="0"/>
            <c:bubble3D val="0"/>
            <c:spPr>
              <a:solidFill>
                <a:srgbClr val="EC56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CC-43E1-B956-AD7497EF4591}"/>
              </c:ext>
            </c:extLst>
          </c:dPt>
          <c:dPt>
            <c:idx val="2"/>
            <c:invertIfNegative val="0"/>
            <c:bubble3D val="0"/>
            <c:spPr>
              <a:solidFill>
                <a:srgbClr val="FAD0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CC-43E1-B956-AD7497EF4591}"/>
              </c:ext>
            </c:extLst>
          </c:dPt>
          <c:dLbls>
            <c:numFmt formatCode="0\K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52423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430</c:v>
                </c:pt>
                <c:pt idx="1">
                  <c:v>310</c:v>
                </c:pt>
                <c:pt idx="2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CCC-43E1-B956-AD7497EF45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95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ANÁLISIS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global de ventas · SQL Server · Power BI · DAX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463040"/>
            <a:ext cx="9144000" cy="64008"/>
          </a:xfrm>
          <a:prstGeom prst="rect">
            <a:avLst/>
          </a:prstGeom>
          <a:solidFill>
            <a:srgbClr val="F5A1A6"/>
          </a:solidFill>
          <a:ln w="12700">
            <a:solidFill>
              <a:srgbClr val="F5A1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64208"/>
            <a:ext cx="1920240" cy="1097280"/>
          </a:xfrm>
          <a:prstGeom prst="rect">
            <a:avLst/>
          </a:prstGeom>
          <a:solidFill>
            <a:srgbClr val="FAD0D3"/>
          </a:solidFill>
          <a:ln w="12700">
            <a:solidFill>
              <a:srgbClr val="F5A1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64208"/>
            <a:ext cx="192024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922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TOTALES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664208"/>
            <a:ext cx="1920240" cy="1097280"/>
          </a:xfrm>
          <a:prstGeom prst="rect">
            <a:avLst/>
          </a:prstGeom>
          <a:solidFill>
            <a:srgbClr val="FAD0D3"/>
          </a:solidFill>
          <a:ln w="12700">
            <a:solidFill>
              <a:srgbClr val="F5A1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664208"/>
            <a:ext cx="192024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7922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664208"/>
            <a:ext cx="1920240" cy="1097280"/>
          </a:xfrm>
          <a:prstGeom prst="rect">
            <a:avLst/>
          </a:prstGeom>
          <a:solidFill>
            <a:srgbClr val="FAD0D3"/>
          </a:solidFill>
          <a:ln w="12700">
            <a:solidFill>
              <a:srgbClr val="F5A1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664208"/>
            <a:ext cx="192024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7922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AÑOS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· 2024 · 2025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1664208"/>
            <a:ext cx="1920240" cy="1097280"/>
          </a:xfrm>
          <a:prstGeom prst="rect">
            <a:avLst/>
          </a:prstGeom>
          <a:solidFill>
            <a:srgbClr val="FAD0D3"/>
          </a:solidFill>
          <a:ln w="12700">
            <a:solidFill>
              <a:srgbClr val="F5A1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664208"/>
            <a:ext cx="192024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7922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DEL INFORME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91840"/>
            <a:ext cx="64008" cy="36576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INFORMACIÓN GENERAL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3467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globales · 4 categorías · segmentos · métodos de pago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730752"/>
            <a:ext cx="64008" cy="36576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76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GENERAL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37856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beneficio, tendencia mensual, top países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169664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169664"/>
            <a:ext cx="64008" cy="36576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15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PAÍS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224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dinámico · variación YoY · hallazgos clave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608576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608576"/>
            <a:ext cx="64008" cy="36576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654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PRODUCTOS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4663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por categoría · ventas por segmento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ANÁLISIS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987552"/>
            <a:ext cx="2103120" cy="868680"/>
          </a:xfrm>
          <a:prstGeom prst="rect">
            <a:avLst/>
          </a:prstGeom>
          <a:solidFill>
            <a:srgbClr val="FAD0D3"/>
          </a:solidFill>
          <a:ln w="12700">
            <a:solidFill>
              <a:srgbClr val="F5A1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987552"/>
            <a:ext cx="210312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0789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$855.3M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" y="1554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50008" y="987552"/>
            <a:ext cx="2103120" cy="868680"/>
          </a:xfrm>
          <a:prstGeom prst="rect">
            <a:avLst/>
          </a:prstGeom>
          <a:solidFill>
            <a:srgbClr val="FAD0D3"/>
          </a:solidFill>
          <a:ln w="12700">
            <a:solidFill>
              <a:srgbClr val="F5A1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50008" y="987552"/>
            <a:ext cx="210312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0789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$284.1M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50008" y="1554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TOTAL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987552"/>
            <a:ext cx="2103120" cy="868680"/>
          </a:xfrm>
          <a:prstGeom prst="rect">
            <a:avLst/>
          </a:prstGeom>
          <a:solidFill>
            <a:srgbClr val="FAD0D3"/>
          </a:solidFill>
          <a:ln w="12700">
            <a:solidFill>
              <a:srgbClr val="F5A1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987552"/>
            <a:ext cx="210312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0789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08576" y="1554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67144" y="987552"/>
            <a:ext cx="2103120" cy="868680"/>
          </a:xfrm>
          <a:prstGeom prst="rect">
            <a:avLst/>
          </a:prstGeom>
          <a:solidFill>
            <a:srgbClr val="FAD0D3"/>
          </a:solidFill>
          <a:ln w="12700">
            <a:solidFill>
              <a:srgbClr val="F5A1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67144" y="987552"/>
            <a:ext cx="210312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0789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$42.766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67144" y="1554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" y="20208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" y="2441448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7724" y="2441448"/>
            <a:ext cx="64008" cy="804672"/>
          </a:xfrm>
          <a:prstGeom prst="rect">
            <a:avLst/>
          </a:prstGeom>
          <a:solidFill>
            <a:srgbClr val="23C26F"/>
          </a:solidFill>
          <a:ln w="12700">
            <a:solidFill>
              <a:srgbClr val="23C2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418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C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YoY 53,84%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8600" y="2761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$855M vs $556M en el periodo anterior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49424" y="2418080"/>
            <a:ext cx="2103120" cy="846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263140" y="2459736"/>
            <a:ext cx="45719" cy="804672"/>
          </a:xfrm>
          <a:prstGeom prst="rect">
            <a:avLst/>
          </a:prstGeom>
          <a:solidFill>
            <a:srgbClr val="23C26F"/>
          </a:solidFill>
          <a:ln w="12700">
            <a:solidFill>
              <a:srgbClr val="23C2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32888" y="23535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C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▲ 361,38%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05456" y="27320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salto de crecimiento entre países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440" y="4123944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1440" y="4123944"/>
            <a:ext cx="64008" cy="804672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215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= 50% pedidos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8600" y="4526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1.006 de 2.000 pedidos — segmento dominante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04288" y="4123944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304288" y="4123944"/>
            <a:ext cx="64008" cy="804672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41448" y="4215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lidera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441448" y="4526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797 pedidos · 39,8% del total transacciones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2816352"/>
            <a:ext cx="4389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2816352"/>
            <a:ext cx="4389120" cy="32004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2825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MÉTODO DE PAGO</a:t>
            </a:r>
            <a:endParaRPr lang="en-US" sz="1000" dirty="0"/>
          </a:p>
        </p:txBody>
      </p:sp>
      <p:graphicFrame>
        <p:nvGraphicFramePr>
          <p:cNvPr id="57" name="Chart 0"/>
          <p:cNvGraphicFramePr/>
          <p:nvPr/>
        </p:nvGraphicFramePr>
        <p:xfrm>
          <a:off x="4617720" y="3136392"/>
          <a:ext cx="43891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ANÁLISIS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TENDENCIAS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325880"/>
            <a:ext cx="2423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1325880"/>
            <a:ext cx="64008" cy="868680"/>
          </a:xfrm>
          <a:prstGeom prst="rect">
            <a:avLst/>
          </a:prstGeom>
          <a:solidFill>
            <a:srgbClr val="23C26F"/>
          </a:solidFill>
          <a:ln w="12700">
            <a:solidFill>
              <a:srgbClr val="23C2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138988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C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Crecimiento sostenido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" y="167335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ventas suben cada año sin excepción — tendencia alcista clara en los 3 ejercicios.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0" y="2331720"/>
            <a:ext cx="2423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0" y="2331720"/>
            <a:ext cx="64008" cy="86868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" y="239572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Pico en Q4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" y="267919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 y diciembre concentran los mayores volúmenes. Estacionalidad marcada.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0" y="3337560"/>
            <a:ext cx="2423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0" y="3337560"/>
            <a:ext cx="64008" cy="86868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" y="34015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Brecha YoY creciente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" y="368503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entre ventas actuales y año anterior se amplía mes a mes.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06040" y="9875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 vs AÑO ANTERIOR (mensual)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606040" y="1280160"/>
          <a:ext cx="6400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260604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MAYOR BENEFICIO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3611880"/>
          <a:ext cx="2834640" cy="14630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566928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MENOR BENEFICIO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3611880"/>
          <a:ext cx="3337560" cy="1463040"/>
        </p:xfrm>
        <a:graphic>
          <a:graphicData uri="http://schemas.openxmlformats.org/drawingml/2006/table">
            <a:tbl>
              <a:tblPr/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0" y="3456432"/>
            <a:ext cx="2423160" cy="162763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440" y="35295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Conclusión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91440" y="382219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crece con fuerza. El reto es mantener el margen mientras escalan las ventas en los mercados emergentes.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ANÁLISIS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PAÍSES POR VENTAS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1243584"/>
          <a:ext cx="4572000" cy="320040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$97.9M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97,8%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$67.9M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$42.7M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58,7%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$62.2M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$44.7M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$61.8M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42,7%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127,0%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$11.9M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361,4%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$49.1M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86,9%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$47.7M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23,9%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$46.7M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$37.9M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23,0%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9601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VENTAS POR REGIÓN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709160" y="1243584"/>
          <a:ext cx="42976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470916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DESTACADOS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09160" y="3584448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3584448"/>
            <a:ext cx="2103120" cy="64008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00600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VENTAS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800600" y="38770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035040" y="3840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$97.9M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del total global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922008" y="3584448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22008" y="3584448"/>
            <a:ext cx="2103120" cy="64008"/>
          </a:xfrm>
          <a:prstGeom prst="rect">
            <a:avLst/>
          </a:prstGeom>
          <a:solidFill>
            <a:srgbClr val="23C26F"/>
          </a:solidFill>
          <a:ln w="12700">
            <a:solidFill>
              <a:srgbClr val="23C26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013448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3C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CRECIMIENTO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013448" y="38770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247888" y="3840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3C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361%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013448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$11.9M a $55.2M YoY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709160" y="4453128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4453128"/>
            <a:ext cx="21031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00600" y="4544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COSTE ENVÍO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00600" y="4745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035040" y="4709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$1.487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00600" y="4983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medio por pedido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922008" y="4453128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0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922008" y="4453128"/>
            <a:ext cx="2103120" cy="64008"/>
          </a:xfrm>
          <a:prstGeom prst="rect">
            <a:avLst/>
          </a:prstGeom>
          <a:solidFill>
            <a:srgbClr val="23C26F"/>
          </a:solidFill>
          <a:ln w="12700">
            <a:solidFill>
              <a:srgbClr val="23C26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013448" y="4544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3C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BENEFICIO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013448" y="4745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247888" y="4709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3C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$52.1M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013448" y="4983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del 53,2%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73A3A"/>
          </a:solidFill>
          <a:ln w="12700">
            <a:solidFill>
              <a:srgbClr val="B7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ANÁLISIS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960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POR CATEGORÍA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0" y="1243584"/>
          <a:ext cx="42976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0" y="34930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SEGMENTO (miles $)</a:t>
            </a:r>
            <a:endParaRPr lang="en-US" sz="10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0" y="3767328"/>
          <a:ext cx="429768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43484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· UNIDADES · BENEFICIO POR PRODUCTO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243584"/>
          <a:ext cx="4572000" cy="38587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Desk Conv.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Ergonomic Chair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L-Shaped Desk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Mech. Gaming Keyboard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Portable SSD 1TB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BT Headphones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Stand Adj.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Webcam HD 1080p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C2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LED Desk Lamp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7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Clips Box 500pc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7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AD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553</Words>
  <Application>Microsoft Office PowerPoint</Application>
  <PresentationFormat>Presentación en pantalla (16:9)</PresentationFormat>
  <Paragraphs>207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Análisis</dc:title>
  <dc:subject>PptxGenJS Presentation</dc:subject>
  <dc:creator>PptxGenJS</dc:creator>
  <cp:lastModifiedBy>javier garcia</cp:lastModifiedBy>
  <cp:revision>1</cp:revision>
  <dcterms:created xsi:type="dcterms:W3CDTF">2026-03-23T09:20:53Z</dcterms:created>
  <dcterms:modified xsi:type="dcterms:W3CDTF">2026-03-23T09:26:45Z</dcterms:modified>
</cp:coreProperties>
</file>